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1B2A"/>
                </a:solidFill>
                <a:latin typeface="Arial"/>
              </a:rPr>
              <a:t>Cost: Before vs After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 (Rs.)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D1-435F-99B8-8B35FCFAA347}"/>
              </c:ext>
            </c:extLst>
          </c:dPt>
          <c:dPt>
            <c:idx val="1"/>
            <c:invertIfNegative val="0"/>
            <c:bubble3D val="0"/>
            <c:spPr>
              <a:solidFill>
                <a:srgbClr val="0E7C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D1-435F-99B8-8B35FCFAA34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 Optimization</c:v>
                </c:pt>
                <c:pt idx="1">
                  <c:v>After Optimization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23876640</c:v>
                </c:pt>
                <c:pt idx="1">
                  <c:v>15917760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D1-435F-99B8-8B35FCFAA3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1B2A"/>
                </a:solidFill>
                <a:latin typeface="Arial"/>
              </a:rPr>
              <a:t>Savings Contribution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8D-4358-B264-74DD0FB44378}"/>
              </c:ext>
            </c:extLst>
          </c:dPt>
          <c:dPt>
            <c:idx val="1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8D-4358-B264-74DD0FB4437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A8D-4358-B264-74DD0FB4437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A8D-4358-B264-74DD0FB4437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Optimized Cost (66.7%)</c:v>
                </c:pt>
                <c:pt idx="1">
                  <c:v>Savings (33.3%)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66.7</c:v>
                </c:pt>
                <c:pt idx="1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A8D-4358-B264-74DD0FB443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Optimization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14200000</c:v>
                </c:pt>
                <c:pt idx="1">
                  <c:v>14850000</c:v>
                </c:pt>
                <c:pt idx="2">
                  <c:v>16950000</c:v>
                </c:pt>
                <c:pt idx="3">
                  <c:v>16100000</c:v>
                </c:pt>
                <c:pt idx="4">
                  <c:v>16100000</c:v>
                </c:pt>
                <c:pt idx="5">
                  <c:v>16100000</c:v>
                </c:pt>
                <c:pt idx="6">
                  <c:v>16100000</c:v>
                </c:pt>
                <c:pt idx="7">
                  <c:v>17100000</c:v>
                </c:pt>
                <c:pt idx="8">
                  <c:v>16250000</c:v>
                </c:pt>
                <c:pt idx="9">
                  <c:v>16000000</c:v>
                </c:pt>
                <c:pt idx="10">
                  <c:v>16250000</c:v>
                </c:pt>
                <c:pt idx="11">
                  <c:v>16250000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52-41B1-9213-6E007F0069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Optimization</c:v>
                </c:pt>
              </c:strCache>
            </c:strRef>
          </c:tx>
          <c:spPr>
            <a:ln w="31750" cap="flat">
              <a:solidFill>
                <a:srgbClr val="0E7C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3A"/>
              </a:solidFill>
              <a:ln w="9525" cap="flat">
                <a:solidFill>
                  <a:srgbClr val="0E7C3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9471400</c:v>
                </c:pt>
                <c:pt idx="1">
                  <c:v>9904950</c:v>
                </c:pt>
                <c:pt idx="2">
                  <c:v>11305650</c:v>
                </c:pt>
                <c:pt idx="3">
                  <c:v>10738700</c:v>
                </c:pt>
                <c:pt idx="4">
                  <c:v>10738700</c:v>
                </c:pt>
                <c:pt idx="5">
                  <c:v>10738700</c:v>
                </c:pt>
                <c:pt idx="6">
                  <c:v>10738700</c:v>
                </c:pt>
                <c:pt idx="7">
                  <c:v>11405700</c:v>
                </c:pt>
                <c:pt idx="8">
                  <c:v>10838750</c:v>
                </c:pt>
                <c:pt idx="9">
                  <c:v>10672000</c:v>
                </c:pt>
                <c:pt idx="10">
                  <c:v>10838750</c:v>
                </c:pt>
                <c:pt idx="11">
                  <c:v>10838750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52-41B1-9213-6E007F0069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574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005840" cy="100584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836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ISI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00200" y="548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</a:rPr>
              <a:t>Indian Statistical Institute, Kolkata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9144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Bachelor of Statistics and Data Science (BSDS) · April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27432"/>
          </a:xfrm>
          <a:prstGeom prst="rect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5448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Electricity Bill Minimization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6E4F0"/>
                </a:solidFill>
              </a:rPr>
              <a:t>via Linear Programming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8595360" cy="274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108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4F0"/>
                </a:solidFill>
              </a:rPr>
              <a:t>Ankesh Raj Aniket (BSDCC2502)  ·  Md Danish (BSDCC2510)  ·  Dunga Pardha Saradhi (BSDCC2506)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474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</a:rPr>
              <a:t>Course Instructor: Kaushik Jana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265176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2C6EB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3886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</a:rPr>
              <a:t>33.3%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43708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</a:rPr>
              <a:t>Annual Bill Savings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3840480"/>
            <a:ext cx="228600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2C6EB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Rs. 79.6L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749040" y="43708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</a:rPr>
              <a:t>Saved per Year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2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7899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Bijli ka bill kaise kam karein — bina bijli ki khapat ghataaye?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41148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20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Peak Hours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Evening 6–10 PM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D1B2A"/>
                </a:solidFill>
              </a:rPr>
              <a:t>High demand → HIGH PRICE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D1B2A"/>
                </a:solidFill>
              </a:rPr>
              <a:t>(1.2 × average tariff)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3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920240"/>
            <a:ext cx="4114800" cy="502920"/>
          </a:xfrm>
          <a:prstGeom prst="rect">
            <a:avLst/>
          </a:prstGeom>
          <a:solidFill>
            <a:srgbClr val="0E7C3A"/>
          </a:solidFill>
          <a:ln w="12700">
            <a:solidFill>
              <a:srgbClr val="0E7C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920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Off-Peak Hours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Night / Early Morning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880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D1B2A"/>
                </a:solidFill>
              </a:rPr>
              <a:t>Low demand → LOW PRICE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D1B2A"/>
                </a:solidFill>
              </a:rPr>
              <a:t>(0.8 × average tariff)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80560" y="3017520"/>
            <a:ext cx="182880" cy="182880"/>
          </a:xfrm>
          <a:prstGeom prst="rect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C6EB5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F8A"/>
                </a:solidFill>
              </a:rPr>
              <a:t>Solution: Schedule appliances in off-peak hours to pay less for the same energy!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Data &amp; Appliances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3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46888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🌀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Flexible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09728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097280"/>
            <a:ext cx="246888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Refrigerator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1600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49040" y="1645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Continuous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109728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1097280"/>
            <a:ext cx="246888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Air Conditioner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1600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92240" y="1645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Partly flexible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743200"/>
            <a:ext cx="246888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Television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📺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3291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Flexible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0" y="274320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2743200"/>
            <a:ext cx="246888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54680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49040" y="3291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Flexible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2160" y="274320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52160" y="2743200"/>
            <a:ext cx="246888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Motor Pump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97880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92240" y="3291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Schedulable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D6E4F0"/>
          </a:solidFill>
          <a:ln w="12700">
            <a:solidFill>
              <a:srgbClr val="2C6EB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Tariff Structure:   Peak Rate = 1.2 × avg   |   Off-Peak Rate = 0.8 × avg   |   Dataset: 12 months of electricity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Mathematical Formulation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4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8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83464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Variables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x_i = energy allocated to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appliance i in off-peak schedule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i = 1 (Fan), 2 (Fridge),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3 (AC), 4 (TV), 5 (Monitor),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6 (Motor Pump)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3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834640" cy="502920"/>
          </a:xfrm>
          <a:prstGeom prst="rect">
            <a:avLst/>
          </a:prstGeom>
          <a:solidFill>
            <a:srgbClr val="0E7C3A"/>
          </a:solidFill>
          <a:ln w="12700">
            <a:solidFill>
              <a:srgbClr val="0E7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51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Objective Function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60020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Minimize Z: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Z = Σ (</a:t>
            </a:r>
            <a:r>
              <a:rPr lang="en-US" sz="1150" dirty="0" err="1">
                <a:solidFill>
                  <a:srgbClr val="0D1B2A"/>
                </a:solidFill>
              </a:rPr>
              <a:t>off_peak_rate</a:t>
            </a:r>
            <a:r>
              <a:rPr lang="en-US" sz="1150" dirty="0">
                <a:solidFill>
                  <a:srgbClr val="0D1B2A"/>
                </a:solidFill>
              </a:rPr>
              <a:t> * x_i)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Minimize total cost when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all energy uses cheap 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51560"/>
            <a:ext cx="28346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051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Constraints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60020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x_i ≥ R_i  for all i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(meet minimum demand)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x_i ≥ 0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0D1B2A"/>
                </a:solidFill>
              </a:rPr>
              <a:t>(no negative usage)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Optimal Solution: x_i* = R_i  (each appliance gets exactly what it needs — minimum cost achieved)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Exactly 33.3% Savings?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98080" y="2560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5 of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57200" cy="548640"/>
          </a:xfrm>
          <a:prstGeom prst="rect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1005840"/>
            <a:ext cx="7818120" cy="5486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05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Peak Tariff:   = 1.2 × avg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0058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6E4F0"/>
                </a:solidFill>
              </a:rPr>
              <a:t>20% more expensive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457200" cy="548640"/>
          </a:xfrm>
          <a:prstGeom prst="rect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1051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1810512"/>
            <a:ext cx="7818120" cy="5486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18105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Off-Peak Tariff:   = 0.8 × avg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81051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6E4F0"/>
                </a:solidFill>
              </a:rPr>
              <a:t>20% cheaper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457200" cy="548640"/>
          </a:xfrm>
          <a:prstGeom prst="rect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1518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" y="2615184"/>
            <a:ext cx="7818120" cy="5486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61518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Ratio:   0.8 ÷ 1.2 = 2/3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261518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6E4F0"/>
                </a:solidFill>
              </a:rPr>
              <a:t>After cost = 66.7% of before cost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19856"/>
            <a:ext cx="457200" cy="548640"/>
          </a:xfrm>
          <a:prstGeom prst="rect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3419856"/>
            <a:ext cx="7818120" cy="5486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41985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Savings:   1 − 2/3 = 1/3 ≈ 33.3%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34198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6E4F0"/>
                </a:solidFill>
              </a:rPr>
              <a:t>Always exact — baked into the tariff structure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The 33.3% saving is GUARANTEED by math — it does not depend on which appliances or which months!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R Code — Step by Step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6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16152"/>
            <a:ext cx="411480" cy="41148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10642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library(lpSolve); library(ggplot2)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Load solver and graph tools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194560"/>
            <a:ext cx="411480" cy="41148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0848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&lt;- read_csv('electricity_bill_dataset.csv')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4688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Read 12-month dataset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008376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172968"/>
            <a:ext cx="411480" cy="41148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72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0632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 &lt;- colSums(data[appliances])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4472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Total annual kWh per appliance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986784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151376"/>
            <a:ext cx="411480" cy="41148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51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0416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peak_rate &lt;- mean(TariffRate) × 1.2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442569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Build peak and off-peak tariffs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05156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216152"/>
            <a:ext cx="411480" cy="41148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110642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const.mat &lt;- diag(6)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57800" y="14904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6×6 identity = 6 independent constraints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029968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194560"/>
            <a:ext cx="411480" cy="41148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20848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&lt;- lp('min', objective, ...)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57800" y="24688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SOLVE the LP — find minimum cost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008376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172968"/>
            <a:ext cx="411480" cy="41148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172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30632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before_cost &lt;- sum(requirement × peak_rate)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57800" y="34472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Compute baseline (pre-optimization) cost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986784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151376"/>
            <a:ext cx="411480" cy="41148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151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40416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savings &lt;- before_cost - result$objval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57800" y="442569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Calculate money saved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98080" y="228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7 of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74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3200400"/>
          </a:xfrm>
          <a:prstGeom prst="rect">
            <a:avLst/>
          </a:prstGeom>
          <a:solidFill>
            <a:srgbClr val="1B4F8A"/>
          </a:solidFill>
          <a:ln w="127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BEFORE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Rs. 2.39 Cr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4F0"/>
                </a:solidFill>
              </a:rPr>
              <a:t>Annual cost at peak rates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960120"/>
            <a:ext cx="2743200" cy="3200400"/>
          </a:xfrm>
          <a:prstGeom prst="rect">
            <a:avLst/>
          </a:prstGeom>
          <a:solidFill>
            <a:srgbClr val="1B4F8A"/>
          </a:solidFill>
          <a:ln w="12700">
            <a:solidFill>
              <a:srgbClr val="0E7C3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960120"/>
            <a:ext cx="2743200" cy="502920"/>
          </a:xfrm>
          <a:prstGeom prst="rect">
            <a:avLst/>
          </a:prstGeom>
          <a:solidFill>
            <a:srgbClr val="0E7C3A"/>
          </a:solidFill>
          <a:ln w="12700">
            <a:solidFill>
              <a:srgbClr val="0E7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AFTER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554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Rs. 1.59 Cr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2606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4F0"/>
                </a:solidFill>
              </a:rPr>
              <a:t>Annual cost at off-peak rates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743200" cy="3200400"/>
          </a:xfrm>
          <a:prstGeom prst="rect">
            <a:avLst/>
          </a:prstGeom>
          <a:solidFill>
            <a:srgbClr val="1B4F8A"/>
          </a:solidFill>
          <a:ln w="12700">
            <a:solidFill>
              <a:srgbClr val="E8A02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60120"/>
            <a:ext cx="274320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SAVINGS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554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Rs. 79.6 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63640" y="2606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4F0"/>
                </a:solidFill>
              </a:rPr>
              <a:t>Per year — ~33.3% reduction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Efficiency Ratio: Rs. 3.38 saved per kWh shifted to off-peak hours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Visual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8 of 10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394960" y="1005840"/>
          <a:ext cx="34747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Left: Bill drops by Rs. 8M after optimization  |  Right: 33.3% of original bill is eliminated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Monthly Trends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0" y="1097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9 of 10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85953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F8A"/>
                </a:solidFill>
              </a:rPr>
              <a:t>Green line always below Red → Savings are consistent every single month of the year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0" y="137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10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65760" cy="365760"/>
          </a:xfrm>
          <a:prstGeom prst="ellipse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</a:rPr>
              <a:t>Linear Programming gives the mathematically GUARANTEED best solution — not a guess.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365760" cy="365760"/>
          </a:xfrm>
          <a:prstGeom prst="ellipse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1907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</a:rPr>
              <a:t>Shifting appliance usage from peak to off-peak hours saves 33.3% of the electricity bill.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432304"/>
            <a:ext cx="365760" cy="365760"/>
          </a:xfrm>
          <a:prstGeom prst="ellipse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34086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</a:rPr>
              <a:t>Annual saving: Rs. 7,958,880 (about Rs. 80 lakh) — without reducing any electricity usage.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3054096"/>
            <a:ext cx="365760" cy="365760"/>
          </a:xfrm>
          <a:prstGeom prst="ellipse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96265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</a:rPr>
              <a:t>The model uses lpSolve in R with a diagonal constraint matrix — simple, clean, transparent.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3675888"/>
            <a:ext cx="365760" cy="365760"/>
          </a:xfrm>
          <a:prstGeom prst="ellipse">
            <a:avLst/>
          </a:prstGeom>
          <a:solidFill>
            <a:srgbClr val="2C6EB5"/>
          </a:solidFill>
          <a:ln w="12700">
            <a:solidFill>
              <a:srgbClr val="2C6E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675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5844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4F0"/>
                </a:solidFill>
              </a:rPr>
              <a:t>Savings are consistent month-to-month — not just a one-time effect.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" y="4297680"/>
            <a:ext cx="365760" cy="36576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206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A020"/>
                </a:solidFill>
              </a:rPr>
              <a:t>Future scope: Time-indexed variables, hourly tariffs, appliance-specific flexibility limits → full smart-grid model.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4F0"/>
                </a:solidFill>
              </a:rPr>
              <a:t>Indian Statistical Institute, Kolkata  ·  BSDS  ·  Optimization Using Numerical Methods  ·  April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769</Words>
  <Application>Microsoft Office PowerPoint</Application>
  <PresentationFormat>On-screen Show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Bill Minimization via Linear Programming</dc:title>
  <dc:subject>PptxGenJS Presentation</dc:subject>
  <dc:creator>PptxGenJS</dc:creator>
  <cp:lastModifiedBy>ANKESH RAJ ANIKET</cp:lastModifiedBy>
  <cp:revision>2</cp:revision>
  <dcterms:created xsi:type="dcterms:W3CDTF">2026-04-18T03:41:20Z</dcterms:created>
  <dcterms:modified xsi:type="dcterms:W3CDTF">2026-04-19T08:27:50Z</dcterms:modified>
</cp:coreProperties>
</file>